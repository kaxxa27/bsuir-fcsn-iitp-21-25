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257" r:id="rId1"/>
  </p:sldMasterIdLst>
  <p:sldIdLst>
    <p:sldId id="256" r:id="rId2"/>
    <p:sldId id="257" r:id="rId3"/>
    <p:sldId id="260" r:id="rId4"/>
    <p:sldId id="27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84"/>
  </p:normalViewPr>
  <p:slideViewPr>
    <p:cSldViewPr snapToGrid="0" snapToObjects="1">
      <p:cViewPr varScale="1">
        <p:scale>
          <a:sx n="106" d="100"/>
          <a:sy n="106" d="100"/>
        </p:scale>
        <p:origin x="7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4EAA2-B17D-E745-85BB-AEA72CD35F14}" type="datetimeFigureOut">
              <a:rPr lang="ru-BY" smtClean="0"/>
              <a:t>28.12.2021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6B882-7987-DD42-98A6-0BCE4E3EF7E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762058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4EAA2-B17D-E745-85BB-AEA72CD35F14}" type="datetimeFigureOut">
              <a:rPr lang="ru-BY" smtClean="0"/>
              <a:t>28.12.2021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6B882-7987-DD42-98A6-0BCE4E3EF7E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637966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4EAA2-B17D-E745-85BB-AEA72CD35F14}" type="datetimeFigureOut">
              <a:rPr lang="ru-BY" smtClean="0"/>
              <a:t>28.12.2021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6B882-7987-DD42-98A6-0BCE4E3EF7E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348664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4EAA2-B17D-E745-85BB-AEA72CD35F14}" type="datetimeFigureOut">
              <a:rPr lang="ru-BY" smtClean="0"/>
              <a:t>28.12.2021</a:t>
            </a:fld>
            <a:endParaRPr lang="ru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6B882-7987-DD42-98A6-0BCE4E3EF7E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9417586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4EAA2-B17D-E745-85BB-AEA72CD35F14}" type="datetimeFigureOut">
              <a:rPr lang="ru-BY" smtClean="0"/>
              <a:t>28.12.2021</a:t>
            </a:fld>
            <a:endParaRPr lang="ru-BY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6B882-7987-DD42-98A6-0BCE4E3EF7E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5200889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4EAA2-B17D-E745-85BB-AEA72CD35F14}" type="datetimeFigureOut">
              <a:rPr lang="ru-BY" smtClean="0"/>
              <a:t>28.12.2021</a:t>
            </a:fld>
            <a:endParaRPr lang="ru-BY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6B882-7987-DD42-98A6-0BCE4E3EF7E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009174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4EAA2-B17D-E745-85BB-AEA72CD35F14}" type="datetimeFigureOut">
              <a:rPr lang="ru-BY" smtClean="0"/>
              <a:t>28.12.2021</a:t>
            </a:fld>
            <a:endParaRPr lang="ru-BY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6B882-7987-DD42-98A6-0BCE4E3EF7E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273450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4EAA2-B17D-E745-85BB-AEA72CD35F14}" type="datetimeFigureOut">
              <a:rPr lang="ru-BY" smtClean="0"/>
              <a:t>28.12.2021</a:t>
            </a:fld>
            <a:endParaRPr lang="ru-B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6B882-7987-DD42-98A6-0BCE4E3EF7E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5076814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6B882-7987-DD42-98A6-0BCE4E3EF7E3}" type="slidenum">
              <a:rPr lang="ru-BY" smtClean="0"/>
              <a:t>‹#›</a:t>
            </a:fld>
            <a:endParaRPr lang="ru-BY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4EAA2-B17D-E745-85BB-AEA72CD35F14}" type="datetimeFigureOut">
              <a:rPr lang="ru-BY" smtClean="0"/>
              <a:t>28.12.2021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2032165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4EAA2-B17D-E745-85BB-AEA72CD35F14}" type="datetimeFigureOut">
              <a:rPr lang="ru-BY" smtClean="0"/>
              <a:t>28.12.2021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6B882-7987-DD42-98A6-0BCE4E3EF7E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2877060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4EAA2-B17D-E745-85BB-AEA72CD35F14}" type="datetimeFigureOut">
              <a:rPr lang="ru-BY" smtClean="0"/>
              <a:t>28.12.2021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6B882-7987-DD42-98A6-0BCE4E3EF7E3}" type="slidenum">
              <a:rPr lang="ru-BY" smtClean="0"/>
              <a:t>‹#›</a:t>
            </a:fld>
            <a:endParaRPr lang="ru-BY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489837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4EAA2-B17D-E745-85BB-AEA72CD35F14}" type="datetimeFigureOut">
              <a:rPr lang="ru-BY" smtClean="0"/>
              <a:t>28.12.2021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6B882-7987-DD42-98A6-0BCE4E3EF7E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5400841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4EAA2-B17D-E745-85BB-AEA72CD35F14}" type="datetimeFigureOut">
              <a:rPr lang="ru-BY" smtClean="0"/>
              <a:t>28.12.2021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6B882-7987-DD42-98A6-0BCE4E3EF7E3}" type="slidenum">
              <a:rPr lang="ru-BY" smtClean="0"/>
              <a:t>‹#›</a:t>
            </a:fld>
            <a:endParaRPr lang="ru-BY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95143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4EAA2-B17D-E745-85BB-AEA72CD35F14}" type="datetimeFigureOut">
              <a:rPr lang="ru-BY" smtClean="0"/>
              <a:t>28.12.2021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6B882-7987-DD42-98A6-0BCE4E3EF7E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1512811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4EAA2-B17D-E745-85BB-AEA72CD35F14}" type="datetimeFigureOut">
              <a:rPr lang="ru-BY" smtClean="0"/>
              <a:t>28.12.2021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6B882-7987-DD42-98A6-0BCE4E3EF7E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41222813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4EAA2-B17D-E745-85BB-AEA72CD35F14}" type="datetimeFigureOut">
              <a:rPr lang="ru-BY" smtClean="0"/>
              <a:t>28.12.2021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36B882-7987-DD42-98A6-0BCE4E3EF7E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30616084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54EAA2-B17D-E745-85BB-AEA72CD35F14}" type="datetimeFigureOut">
              <a:rPr lang="ru-BY" smtClean="0"/>
              <a:t>28.12.2021</a:t>
            </a:fld>
            <a:endParaRPr lang="ru-BY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B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A36B882-7987-DD42-98A6-0BCE4E3EF7E3}" type="slidenum">
              <a:rPr lang="ru-BY" smtClean="0"/>
              <a:t>‹#›</a:t>
            </a:fld>
            <a:endParaRPr lang="ru-BY"/>
          </a:p>
        </p:txBody>
      </p:sp>
    </p:spTree>
    <p:extLst>
      <p:ext uri="{BB962C8B-B14F-4D97-AF65-F5344CB8AC3E}">
        <p14:creationId xmlns:p14="http://schemas.microsoft.com/office/powerpoint/2010/main" val="957917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8" r:id="rId1"/>
    <p:sldLayoutId id="2147484259" r:id="rId2"/>
    <p:sldLayoutId id="2147484260" r:id="rId3"/>
    <p:sldLayoutId id="2147484261" r:id="rId4"/>
    <p:sldLayoutId id="2147484262" r:id="rId5"/>
    <p:sldLayoutId id="2147484263" r:id="rId6"/>
    <p:sldLayoutId id="2147484264" r:id="rId7"/>
    <p:sldLayoutId id="2147484265" r:id="rId8"/>
    <p:sldLayoutId id="2147484266" r:id="rId9"/>
    <p:sldLayoutId id="2147484267" r:id="rId10"/>
    <p:sldLayoutId id="2147484268" r:id="rId11"/>
    <p:sldLayoutId id="2147484269" r:id="rId12"/>
    <p:sldLayoutId id="2147484270" r:id="rId13"/>
    <p:sldLayoutId id="2147484271" r:id="rId14"/>
    <p:sldLayoutId id="2147484272" r:id="rId15"/>
    <p:sldLayoutId id="214748427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4D22B7-ED15-F943-83D5-35854549CF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738396"/>
          </a:xfrm>
        </p:spPr>
        <p:txBody>
          <a:bodyPr/>
          <a:lstStyle/>
          <a:p>
            <a:endParaRPr lang="ru-BY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986F7A1-5D05-024A-84CF-46108704E5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212080"/>
            <a:ext cx="9144000" cy="695425"/>
          </a:xfrm>
        </p:spPr>
        <p:txBody>
          <a:bodyPr>
            <a:normAutofit/>
          </a:bodyPr>
          <a:lstStyle/>
          <a:p>
            <a:r>
              <a:rPr lang="ru-BY" i="1" dirty="0"/>
              <a:t>Подготовила Воробей Е.Г.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AA83CD-2953-D34C-B59F-1CBBA6C8D0B4}"/>
              </a:ext>
            </a:extLst>
          </p:cNvPr>
          <p:cNvSpPr txBox="1"/>
          <p:nvPr/>
        </p:nvSpPr>
        <p:spPr>
          <a:xfrm>
            <a:off x="3178342" y="2144875"/>
            <a:ext cx="6100010" cy="1380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49580" algn="ctr">
              <a:lnSpc>
                <a:spcPct val="107000"/>
              </a:lnSpc>
              <a:spcBef>
                <a:spcPts val="200"/>
              </a:spcBef>
            </a:pPr>
            <a:r>
              <a:rPr lang="ru-BY" sz="4000" b="1" dirty="0">
                <a:solidFill>
                  <a:srgbClr val="2E74B5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Основные виды сходимости ряда Фурье</a:t>
            </a:r>
          </a:p>
        </p:txBody>
      </p:sp>
    </p:spTree>
    <p:extLst>
      <p:ext uri="{BB962C8B-B14F-4D97-AF65-F5344CB8AC3E}">
        <p14:creationId xmlns:p14="http://schemas.microsoft.com/office/powerpoint/2010/main" val="2596211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1E229E-B3CB-134B-B02F-FEB30E151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BY" dirty="0"/>
              <a:t>Содержание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E114BB-BBE4-DB44-96EE-E8160F60D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BY" sz="3200" dirty="0"/>
              <a:t>1.Функциональный ряд </a:t>
            </a:r>
          </a:p>
          <a:p>
            <a:endParaRPr lang="ru-BY" sz="3200" dirty="0"/>
          </a:p>
          <a:p>
            <a:r>
              <a:rPr lang="ru-BY" sz="3200" dirty="0"/>
              <a:t>2.Тригонометрический ряд Фурье</a:t>
            </a:r>
          </a:p>
          <a:p>
            <a:endParaRPr lang="ru-BY" sz="3200" dirty="0"/>
          </a:p>
          <a:p>
            <a:r>
              <a:rPr lang="ru-BY" sz="3200" dirty="0"/>
              <a:t>3.</a:t>
            </a:r>
            <a:r>
              <a:rPr lang="ru-BY" sz="2800" dirty="0"/>
              <a:t>Ряд</a:t>
            </a:r>
            <a:r>
              <a:rPr lang="ru-BY" sz="3200" dirty="0"/>
              <a:t> Фурье в Гильбертовом пространстве</a:t>
            </a:r>
          </a:p>
        </p:txBody>
      </p:sp>
    </p:spTree>
    <p:extLst>
      <p:ext uri="{BB962C8B-B14F-4D97-AF65-F5344CB8AC3E}">
        <p14:creationId xmlns:p14="http://schemas.microsoft.com/office/powerpoint/2010/main" val="1881728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3A5E9D7-6382-AD4D-89BA-B50C73161C9D}"/>
              </a:ext>
            </a:extLst>
          </p:cNvPr>
          <p:cNvSpPr/>
          <p:nvPr/>
        </p:nvSpPr>
        <p:spPr>
          <a:xfrm>
            <a:off x="1100890" y="33080"/>
            <a:ext cx="8193506" cy="1827302"/>
          </a:xfrm>
          <a:prstGeom prst="rect">
            <a:avLst/>
          </a:prstGeom>
          <a:ln w="3175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BY" sz="28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1.Функциональный ряд</a:t>
            </a:r>
          </a:p>
          <a:p>
            <a:pPr algn="ctr"/>
            <a:r>
              <a:rPr lang="ru-BY" sz="240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Опредение функционального ряда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>
                <a:extLst>
                  <a:ext uri="{FF2B5EF4-FFF2-40B4-BE49-F238E27FC236}">
                    <a16:creationId xmlns:a16="http://schemas.microsoft.com/office/drawing/2014/main" id="{E2CAF8FB-9875-C54C-AF61-EA94848D64AD}"/>
                  </a:ext>
                </a:extLst>
              </p:cNvPr>
              <p:cNvSpPr/>
              <p:nvPr/>
            </p:nvSpPr>
            <p:spPr>
              <a:xfrm>
                <a:off x="529390" y="1353548"/>
                <a:ext cx="9336506" cy="1732548"/>
              </a:xfrm>
              <a:prstGeom prst="rect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ru-BY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BY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BY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BY" i="1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ru-BY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ru-BY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ru-BY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BY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ru-BY" i="1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  <m:sSub>
                        <m:sSubPr>
                          <m:ctrlPr>
                            <a:rPr lang="ru-BY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ru-BY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ru-BY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BY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BY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BY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ru-BY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ru-BY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BY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BY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BY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ru-BY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ru-BY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BY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BY" i="1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ru-BY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ru-BY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ru-BY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BY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BY" i="1">
                          <a:latin typeface="Cambria Math" panose="02040503050406030204" pitchFamily="18" charset="0"/>
                        </a:rPr>
                        <m:t>+… 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 xmlns="">
          <p:sp>
            <p:nvSpPr>
              <p:cNvPr id="3" name="Прямоугольник 2">
                <a:extLst>
                  <a:ext uri="{FF2B5EF4-FFF2-40B4-BE49-F238E27FC236}">
                    <a16:creationId xmlns:a16="http://schemas.microsoft.com/office/drawing/2014/main" id="{E2CAF8FB-9875-C54C-AF61-EA94848D64A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90" y="1353548"/>
                <a:ext cx="9336506" cy="1732548"/>
              </a:xfrm>
              <a:prstGeom prst="rect">
                <a:avLst/>
              </a:prstGeom>
              <a:blipFill>
                <a:blip r:embed="rId2"/>
                <a:stretch>
                  <a:fillRect t="-23188" b="-50000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FCC2911-B0D1-0A4A-A1B8-D5A3DF943D5B}"/>
              </a:ext>
            </a:extLst>
          </p:cNvPr>
          <p:cNvSpPr/>
          <p:nvPr/>
        </p:nvSpPr>
        <p:spPr>
          <a:xfrm>
            <a:off x="306806" y="4106526"/>
            <a:ext cx="9486896" cy="7098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BY" dirty="0">
                <a:solidFill>
                  <a:schemeClr val="tx1"/>
                </a:solidFill>
              </a:rPr>
              <a:t>Функциональный ряд называется сходящимся в области </a:t>
            </a:r>
            <a:r>
              <a:rPr lang="en-US" dirty="0">
                <a:solidFill>
                  <a:schemeClr val="tx1"/>
                </a:solidFill>
              </a:rPr>
              <a:t>D</a:t>
            </a:r>
            <a:r>
              <a:rPr lang="ru-RU" dirty="0">
                <a:solidFill>
                  <a:schemeClr val="tx1"/>
                </a:solidFill>
              </a:rPr>
              <a:t>, если существует конечный предел его частичных сумм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42FF0692-661C-B44A-B4C7-41FACD64786C}"/>
                  </a:ext>
                </a:extLst>
              </p:cNvPr>
              <p:cNvSpPr/>
              <p:nvPr/>
            </p:nvSpPr>
            <p:spPr>
              <a:xfrm>
                <a:off x="216565" y="4878804"/>
                <a:ext cx="8506326" cy="95049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ru-BY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B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ru-RU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ru-B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B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ru-B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lang="ru-BY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BY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ru-RU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ru-RU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ru-RU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</m:oMath>
                  </m:oMathPara>
                </a14:m>
                <a:endParaRPr lang="ru-BY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5" name="Прямоугольник 24">
                <a:extLst>
                  <a:ext uri="{FF2B5EF4-FFF2-40B4-BE49-F238E27FC236}">
                    <a16:creationId xmlns:a16="http://schemas.microsoft.com/office/drawing/2014/main" id="{42FF0692-661C-B44A-B4C7-41FACD64786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565" y="4878804"/>
                <a:ext cx="8506326" cy="95049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B4FCF3D-0579-474D-ACEA-C6DE201C18AF}"/>
              </a:ext>
            </a:extLst>
          </p:cNvPr>
          <p:cNvSpPr/>
          <p:nvPr/>
        </p:nvSpPr>
        <p:spPr>
          <a:xfrm>
            <a:off x="391028" y="5692439"/>
            <a:ext cx="8746957" cy="8181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BY" dirty="0">
                <a:solidFill>
                  <a:schemeClr val="tx1"/>
                </a:solidFill>
              </a:rPr>
              <a:t>Область </a:t>
            </a:r>
            <a:r>
              <a:rPr lang="en-US" dirty="0">
                <a:solidFill>
                  <a:schemeClr val="tx1"/>
                </a:solidFill>
              </a:rPr>
              <a:t>D </a:t>
            </a:r>
            <a:r>
              <a:rPr lang="ru-BY" dirty="0">
                <a:solidFill>
                  <a:schemeClr val="tx1"/>
                </a:solidFill>
              </a:rPr>
              <a:t>– </a:t>
            </a:r>
            <a:r>
              <a:rPr lang="ru-RU" b="1" i="1" dirty="0">
                <a:solidFill>
                  <a:schemeClr val="tx1"/>
                </a:solidFill>
              </a:rPr>
              <a:t>область сходимости</a:t>
            </a:r>
            <a:endParaRPr lang="ru-BY" b="1" i="1" dirty="0">
              <a:solidFill>
                <a:schemeClr val="tx1"/>
              </a:solidFill>
            </a:endParaRP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3006494C-D04B-2045-8DD1-442CFCF6DF8D}"/>
              </a:ext>
            </a:extLst>
          </p:cNvPr>
          <p:cNvSpPr/>
          <p:nvPr/>
        </p:nvSpPr>
        <p:spPr>
          <a:xfrm>
            <a:off x="216565" y="2614609"/>
            <a:ext cx="9577137" cy="5173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n-</a:t>
            </a:r>
            <a:r>
              <a:rPr lang="ru-RU" dirty="0">
                <a:solidFill>
                  <a:schemeClr val="tx1"/>
                </a:solidFill>
              </a:rPr>
              <a:t>я частичная сумма ряда</a:t>
            </a:r>
            <a:endParaRPr lang="ru-BY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Прямоугольник 31">
                <a:extLst>
                  <a:ext uri="{FF2B5EF4-FFF2-40B4-BE49-F238E27FC236}">
                    <a16:creationId xmlns:a16="http://schemas.microsoft.com/office/drawing/2014/main" id="{39AECA25-F53F-2D46-BC93-F5F049EF33FE}"/>
                  </a:ext>
                </a:extLst>
              </p:cNvPr>
              <p:cNvSpPr/>
              <p:nvPr/>
            </p:nvSpPr>
            <p:spPr>
              <a:xfrm>
                <a:off x="1443785" y="3029703"/>
                <a:ext cx="7122695" cy="87830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BY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BY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BY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BY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BY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ru-B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B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ru-B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ru-B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B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ru-BY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Прямоугольник 31">
                <a:extLst>
                  <a:ext uri="{FF2B5EF4-FFF2-40B4-BE49-F238E27FC236}">
                    <a16:creationId xmlns:a16="http://schemas.microsoft.com/office/drawing/2014/main" id="{39AECA25-F53F-2D46-BC93-F5F049EF33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3785" y="3029703"/>
                <a:ext cx="7122695" cy="878305"/>
              </a:xfrm>
              <a:prstGeom prst="rect">
                <a:avLst/>
              </a:prstGeom>
              <a:blipFill>
                <a:blip r:embed="rId4"/>
                <a:stretch>
                  <a:fillRect t="-92958" b="-143662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9527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9504E1B-362C-224E-9B00-BBE2D185E9BF}"/>
              </a:ext>
            </a:extLst>
          </p:cNvPr>
          <p:cNvSpPr/>
          <p:nvPr/>
        </p:nvSpPr>
        <p:spPr>
          <a:xfrm>
            <a:off x="541421" y="360947"/>
            <a:ext cx="8578516" cy="9865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BY" sz="2800" dirty="0">
                <a:solidFill>
                  <a:schemeClr val="accent1">
                    <a:lumMod val="75000"/>
                  </a:schemeClr>
                </a:solidFill>
              </a:rPr>
              <a:t>Поточечная сходимость функционального ряда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>
                <a:extLst>
                  <a:ext uri="{FF2B5EF4-FFF2-40B4-BE49-F238E27FC236}">
                    <a16:creationId xmlns:a16="http://schemas.microsoft.com/office/drawing/2014/main" id="{8C21156A-CDE0-6745-8C2A-8867C4C1E3F2}"/>
                  </a:ext>
                </a:extLst>
              </p:cNvPr>
              <p:cNvSpPr/>
              <p:nvPr/>
            </p:nvSpPr>
            <p:spPr>
              <a:xfrm>
                <a:off x="1046747" y="1600200"/>
                <a:ext cx="8073190" cy="21416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BY" b="1" i="1" dirty="0">
                    <a:solidFill>
                      <a:schemeClr val="tx1"/>
                    </a:solidFill>
                  </a:rPr>
                  <a:t>Область сходимости </a:t>
                </a:r>
                <a:r>
                  <a:rPr lang="ru-BY" dirty="0">
                    <a:solidFill>
                      <a:schemeClr val="tx1"/>
                    </a:solidFill>
                  </a:rPr>
                  <a:t>функционального ряда бывает </a:t>
                </a:r>
                <a:r>
                  <a:rPr lang="ru-RU" dirty="0">
                    <a:solidFill>
                      <a:schemeClr val="tx1"/>
                    </a:solidFill>
                  </a:rPr>
                  <a:t> </a:t>
                </a:r>
                <a:r>
                  <a:rPr lang="ru-BY" dirty="0">
                    <a:solidFill>
                      <a:schemeClr val="tx1"/>
                    </a:solidFill>
                  </a:rPr>
                  <a:t>абсолютной и условной</a:t>
                </a:r>
                <a:r>
                  <a:rPr lang="ru-RU" dirty="0">
                    <a:solidFill>
                      <a:schemeClr val="tx1"/>
                    </a:solidFill>
                  </a:rPr>
                  <a:t>.Ряд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ru-BY" i="1">
                            <a:solidFill>
                              <a:schemeClr val="tx1"/>
                            </a:solidFill>
                          </a:rPr>
                        </m:ctrlPr>
                      </m:naryPr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</a:rPr>
                          <m:t>𝑛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</a:rPr>
                          <m:t>=1</m:t>
                        </m:r>
                      </m:sub>
                      <m:sup>
                        <m:r>
                          <a:rPr lang="ru-BY" i="1">
                            <a:solidFill>
                              <a:schemeClr val="tx1"/>
                            </a:solidFill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ru-BY" i="1">
                                <a:solidFill>
                                  <a:schemeClr val="tx1"/>
                                </a:solidFill>
                              </a:rPr>
                            </m:ctrlPr>
                          </m:sSubPr>
                          <m:e>
                            <m:r>
                              <a:rPr lang="ru-BY" i="1">
                                <a:solidFill>
                                  <a:schemeClr val="tx1"/>
                                </a:solidFill>
                              </a:rPr>
                              <m:t>𝑢</m:t>
                            </m:r>
                          </m:e>
                          <m:sub>
                            <m:r>
                              <a:rPr lang="ru-BY" i="1">
                                <a:solidFill>
                                  <a:schemeClr val="tx1"/>
                                </a:solidFill>
                              </a:rPr>
                              <m:t>𝑛</m:t>
                            </m:r>
                          </m:sub>
                        </m:sSub>
                      </m:e>
                    </m:nary>
                    <m:r>
                      <a:rPr lang="ru-BY" i="1">
                        <a:solidFill>
                          <a:schemeClr val="tx1"/>
                        </a:solidFill>
                      </a:rPr>
                      <m:t>(</m:t>
                    </m:r>
                    <m:r>
                      <a:rPr lang="en-US" i="1">
                        <a:solidFill>
                          <a:schemeClr val="tx1"/>
                        </a:solidFill>
                      </a:rPr>
                      <m:t>𝑥</m:t>
                    </m:r>
                    <m:r>
                      <a:rPr lang="ru-BY" i="1">
                        <a:solidFill>
                          <a:schemeClr val="tx1"/>
                        </a:solidFill>
                      </a:rPr>
                      <m:t>)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называется абсолютно сходящимся, если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ru-BY" i="1">
                            <a:solidFill>
                              <a:schemeClr val="tx1"/>
                            </a:solidFill>
                          </a:rPr>
                        </m:ctrlPr>
                      </m:naryPr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</a:rPr>
                          <m:t>𝑛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</a:rPr>
                          <m:t>=1</m:t>
                        </m:r>
                      </m:sub>
                      <m:sup>
                        <m:r>
                          <a:rPr lang="ru-BY" i="1">
                            <a:solidFill>
                              <a:schemeClr val="tx1"/>
                            </a:solidFill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ru-BY" i="1">
                                <a:solidFill>
                                  <a:schemeClr val="tx1"/>
                                </a:solidFill>
                              </a:rPr>
                            </m:ctrlPr>
                          </m:sSubPr>
                          <m:e>
                            <m:r>
                              <a:rPr lang="ru-RU" i="1">
                                <a:solidFill>
                                  <a:schemeClr val="tx1"/>
                                </a:solidFill>
                              </a:rPr>
                              <m:t>|</m:t>
                            </m:r>
                            <m:r>
                              <a:rPr lang="ru-BY" i="1">
                                <a:solidFill>
                                  <a:schemeClr val="tx1"/>
                                </a:solidFill>
                              </a:rPr>
                              <m:t>𝑢</m:t>
                            </m:r>
                          </m:e>
                          <m:sub>
                            <m:r>
                              <a:rPr lang="ru-BY" i="1">
                                <a:solidFill>
                                  <a:schemeClr val="tx1"/>
                                </a:solidFill>
                              </a:rPr>
                              <m:t>𝑛</m:t>
                            </m:r>
                          </m:sub>
                        </m:sSub>
                      </m:e>
                    </m:nary>
                    <m:d>
                      <m:dPr>
                        <m:ctrlPr>
                          <a:rPr lang="ru-BY" i="1">
                            <a:solidFill>
                              <a:schemeClr val="tx1"/>
                            </a:solidFill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</a:rPr>
                          <m:t>𝑥</m:t>
                        </m:r>
                      </m:e>
                    </m:d>
                    <m:r>
                      <a:rPr lang="ru-BY" i="1">
                        <a:solidFill>
                          <a:schemeClr val="tx1"/>
                        </a:solidFill>
                      </a:rPr>
                      <m:t>|</m:t>
                    </m:r>
                  </m:oMath>
                </a14:m>
                <a:r>
                  <a:rPr lang="ru-BY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сходится. Если ряд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ru-BY" i="1">
                            <a:solidFill>
                              <a:schemeClr val="tx1"/>
                            </a:solidFill>
                          </a:rPr>
                        </m:ctrlPr>
                      </m:naryPr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</a:rPr>
                          <m:t>𝑛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</a:rPr>
                          <m:t>=1</m:t>
                        </m:r>
                      </m:sub>
                      <m:sup>
                        <m:r>
                          <a:rPr lang="ru-BY" i="1">
                            <a:solidFill>
                              <a:schemeClr val="tx1"/>
                            </a:solidFill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ru-BY" i="1">
                                <a:solidFill>
                                  <a:schemeClr val="tx1"/>
                                </a:solidFill>
                              </a:rPr>
                            </m:ctrlPr>
                          </m:sSubPr>
                          <m:e>
                            <m:r>
                              <a:rPr lang="ru-BY" i="1">
                                <a:solidFill>
                                  <a:schemeClr val="tx1"/>
                                </a:solidFill>
                              </a:rPr>
                              <m:t>𝑢</m:t>
                            </m:r>
                          </m:e>
                          <m:sub>
                            <m:r>
                              <a:rPr lang="ru-BY" i="1">
                                <a:solidFill>
                                  <a:schemeClr val="tx1"/>
                                </a:solidFill>
                              </a:rPr>
                              <m:t>𝑛</m:t>
                            </m:r>
                          </m:sub>
                        </m:sSub>
                      </m:e>
                    </m:nary>
                    <m:r>
                      <a:rPr lang="ru-BY" i="1">
                        <a:solidFill>
                          <a:schemeClr val="tx1"/>
                        </a:solidFill>
                      </a:rPr>
                      <m:t>(</m:t>
                    </m:r>
                    <m:r>
                      <a:rPr lang="en-US" i="1">
                        <a:solidFill>
                          <a:schemeClr val="tx1"/>
                        </a:solidFill>
                      </a:rPr>
                      <m:t>𝑥</m:t>
                    </m:r>
                    <m:r>
                      <a:rPr lang="ru-BY" i="1">
                        <a:solidFill>
                          <a:schemeClr val="tx1"/>
                        </a:solidFill>
                      </a:rPr>
                      <m:t>)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сходится, а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ru-BY" i="1">
                            <a:solidFill>
                              <a:schemeClr val="tx1"/>
                            </a:solidFill>
                          </a:rPr>
                        </m:ctrlPr>
                      </m:naryPr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</a:rPr>
                          <m:t>𝑛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</a:rPr>
                          <m:t>=1</m:t>
                        </m:r>
                      </m:sub>
                      <m:sup>
                        <m:r>
                          <a:rPr lang="ru-BY" i="1">
                            <a:solidFill>
                              <a:schemeClr val="tx1"/>
                            </a:solidFill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ru-BY" i="1">
                                <a:solidFill>
                                  <a:schemeClr val="tx1"/>
                                </a:solidFill>
                              </a:rPr>
                            </m:ctrlPr>
                          </m:sSubPr>
                          <m:e>
                            <m:r>
                              <a:rPr lang="ru-RU" i="1">
                                <a:solidFill>
                                  <a:schemeClr val="tx1"/>
                                </a:solidFill>
                              </a:rPr>
                              <m:t>|</m:t>
                            </m:r>
                            <m:r>
                              <a:rPr lang="ru-BY" i="1">
                                <a:solidFill>
                                  <a:schemeClr val="tx1"/>
                                </a:solidFill>
                              </a:rPr>
                              <m:t>𝑢</m:t>
                            </m:r>
                          </m:e>
                          <m:sub>
                            <m:r>
                              <a:rPr lang="ru-BY" i="1">
                                <a:solidFill>
                                  <a:schemeClr val="tx1"/>
                                </a:solidFill>
                              </a:rPr>
                              <m:t>𝑛</m:t>
                            </m:r>
                          </m:sub>
                        </m:sSub>
                      </m:e>
                    </m:nary>
                    <m:d>
                      <m:dPr>
                        <m:ctrlPr>
                          <a:rPr lang="ru-BY" i="1">
                            <a:solidFill>
                              <a:schemeClr val="tx1"/>
                            </a:solidFill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</a:rPr>
                          <m:t>𝑥</m:t>
                        </m:r>
                      </m:e>
                    </m:d>
                    <m:r>
                      <a:rPr lang="ru-BY" i="1">
                        <a:solidFill>
                          <a:schemeClr val="tx1"/>
                        </a:solidFill>
                      </a:rPr>
                      <m:t>|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расходится, то ряд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ctrlPr>
                          <a:rPr lang="ru-BY" i="1">
                            <a:solidFill>
                              <a:schemeClr val="tx1"/>
                            </a:solidFill>
                          </a:rPr>
                        </m:ctrlPr>
                      </m:naryPr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</a:rPr>
                          <m:t>𝑛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</a:rPr>
                          <m:t>=1</m:t>
                        </m:r>
                      </m:sub>
                      <m:sup>
                        <m:r>
                          <a:rPr lang="ru-BY" i="1">
                            <a:solidFill>
                              <a:schemeClr val="tx1"/>
                            </a:solidFill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ru-BY" i="1">
                                <a:solidFill>
                                  <a:schemeClr val="tx1"/>
                                </a:solidFill>
                              </a:rPr>
                            </m:ctrlPr>
                          </m:sSubPr>
                          <m:e>
                            <m:r>
                              <a:rPr lang="ru-BY" i="1">
                                <a:solidFill>
                                  <a:schemeClr val="tx1"/>
                                </a:solidFill>
                              </a:rPr>
                              <m:t>𝑢</m:t>
                            </m:r>
                          </m:e>
                          <m:sub>
                            <m:r>
                              <a:rPr lang="ru-BY" i="1">
                                <a:solidFill>
                                  <a:schemeClr val="tx1"/>
                                </a:solidFill>
                              </a:rPr>
                              <m:t>𝑛</m:t>
                            </m:r>
                          </m:sub>
                        </m:sSub>
                      </m:e>
                    </m:nary>
                    <m:d>
                      <m:dPr>
                        <m:ctrlPr>
                          <a:rPr lang="ru-BY" i="1">
                            <a:solidFill>
                              <a:schemeClr val="tx1"/>
                            </a:solidFill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chemeClr val="tx1"/>
                            </a:solidFill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сходится условно</a:t>
                </a:r>
                <a:endParaRPr lang="ru-BY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Прямоугольник 2">
                <a:extLst>
                  <a:ext uri="{FF2B5EF4-FFF2-40B4-BE49-F238E27FC236}">
                    <a16:creationId xmlns:a16="http://schemas.microsoft.com/office/drawing/2014/main" id="{8C21156A-CDE0-6745-8C2A-8867C4C1E3F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6747" y="1600200"/>
                <a:ext cx="8073190" cy="2141621"/>
              </a:xfrm>
              <a:prstGeom prst="rect">
                <a:avLst/>
              </a:prstGeom>
              <a:blipFill>
                <a:blip r:embed="rId2"/>
                <a:stretch>
                  <a:fillRect b="-769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0168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4D70F7D-9C23-C643-9064-D1B04B746FEE}"/>
              </a:ext>
            </a:extLst>
          </p:cNvPr>
          <p:cNvSpPr/>
          <p:nvPr/>
        </p:nvSpPr>
        <p:spPr>
          <a:xfrm>
            <a:off x="204537" y="336885"/>
            <a:ext cx="8987589" cy="67376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BY" sz="2400" b="1" dirty="0">
                <a:solidFill>
                  <a:schemeClr val="accent1"/>
                </a:solidFill>
              </a:rPr>
              <a:t>Равномерная сходимость функционального ряда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>
                <a:extLst>
                  <a:ext uri="{FF2B5EF4-FFF2-40B4-BE49-F238E27FC236}">
                    <a16:creationId xmlns:a16="http://schemas.microsoft.com/office/drawing/2014/main" id="{6DCC3620-1B1E-C147-9A8F-34C9C6870515}"/>
                  </a:ext>
                </a:extLst>
              </p:cNvPr>
              <p:cNvSpPr/>
              <p:nvPr/>
            </p:nvSpPr>
            <p:spPr>
              <a:xfrm>
                <a:off x="312821" y="1323474"/>
                <a:ext cx="9276347" cy="111893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ru-BY" b="1" dirty="0">
                    <a:solidFill>
                      <a:schemeClr val="tx1"/>
                    </a:solidFill>
                  </a:rPr>
                  <a:t>Равномерно сходящийся </a:t>
                </a:r>
                <a:r>
                  <a:rPr lang="ru-BY" dirty="0">
                    <a:solidFill>
                      <a:schemeClr val="tx1"/>
                    </a:solidFill>
                  </a:rPr>
                  <a:t>ряд в области </a:t>
                </a:r>
                <a:r>
                  <a:rPr lang="en-US" dirty="0">
                    <a:solidFill>
                      <a:schemeClr val="tx1"/>
                    </a:solidFill>
                  </a:rPr>
                  <a:t>D:</a:t>
                </a:r>
              </a:p>
              <a:p>
                <a14:m>
                  <m:oMath xmlns:m="http://schemas.openxmlformats.org/officeDocument/2006/math">
                    <m:r>
                      <a:rPr lang="ru-BY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ru-BY" sz="2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   ∃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 </m:t>
                    </m:r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d>
                          <m:d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ru-BY" sz="2400" dirty="0">
                    <a:solidFill>
                      <a:schemeClr val="tx1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BY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 </a:t>
                </a:r>
                <a:r>
                  <a:rPr lang="ru-RU" sz="2400" dirty="0">
                    <a:solidFill>
                      <a:schemeClr val="tx1"/>
                    </a:solidFill>
                  </a:rPr>
                  <a:t>при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sz="2400" b="0" dirty="0">
                  <a:solidFill>
                    <a:schemeClr val="tx1"/>
                  </a:solidFill>
                </a:endParaRPr>
              </a:p>
              <a:p>
                <a:r>
                  <a:rPr lang="ru-RU" dirty="0">
                    <a:solidFill>
                      <a:schemeClr val="tx1"/>
                    </a:solidFill>
                  </a:rPr>
                  <a:t>г</a:t>
                </a:r>
                <a:r>
                  <a:rPr lang="ru-BY" dirty="0">
                    <a:solidFill>
                      <a:schemeClr val="tx1"/>
                    </a:solidFill>
                  </a:rPr>
                  <a:t>де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ru-BY" dirty="0">
                    <a:solidFill>
                      <a:schemeClr val="tx1"/>
                    </a:solidFill>
                  </a:rPr>
                  <a:t> не зависит от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BY" i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Прямоугольник 2">
                <a:extLst>
                  <a:ext uri="{FF2B5EF4-FFF2-40B4-BE49-F238E27FC236}">
                    <a16:creationId xmlns:a16="http://schemas.microsoft.com/office/drawing/2014/main" id="{6DCC3620-1B1E-C147-9A8F-34C9C68705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821" y="1323474"/>
                <a:ext cx="9276347" cy="1118937"/>
              </a:xfrm>
              <a:prstGeom prst="rect">
                <a:avLst/>
              </a:prstGeom>
              <a:blipFill>
                <a:blip r:embed="rId2"/>
                <a:stretch>
                  <a:fillRect l="-546" b="-2198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Равномерная сходимость ряда. Что это такое?">
            <a:extLst>
              <a:ext uri="{FF2B5EF4-FFF2-40B4-BE49-F238E27FC236}">
                <a16:creationId xmlns:a16="http://schemas.microsoft.com/office/drawing/2014/main" id="{E4EA31E3-7A25-4640-9E69-356D47301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5451" y="1524000"/>
            <a:ext cx="45847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Прямоугольник 3">
                <a:extLst>
                  <a:ext uri="{FF2B5EF4-FFF2-40B4-BE49-F238E27FC236}">
                    <a16:creationId xmlns:a16="http://schemas.microsoft.com/office/drawing/2014/main" id="{1646DC62-E0E6-5648-91EF-B952F6E4836F}"/>
                  </a:ext>
                </a:extLst>
              </p:cNvPr>
              <p:cNvSpPr/>
              <p:nvPr/>
            </p:nvSpPr>
            <p:spPr>
              <a:xfrm>
                <a:off x="0" y="2809373"/>
                <a:ext cx="5450305" cy="123925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ru-BY" i="1" smtClean="0">
                              <a:solidFill>
                                <a:schemeClr val="tx1"/>
                              </a:solidFill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BY" i="1">
                                  <a:solidFill>
                                    <a:schemeClr val="tx1"/>
                                  </a:solidFill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ru-BY" i="1">
                                  <a:solidFill>
                                    <a:schemeClr val="tx1"/>
                                  </a:solidFill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ru-RU" i="1">
                          <a:solidFill>
                            <a:schemeClr val="tx1"/>
                          </a:solidFill>
                        </a:rPr>
                        <m:t>&lt;</m:t>
                      </m:r>
                      <m:r>
                        <a:rPr lang="ru-RU" i="1">
                          <a:solidFill>
                            <a:schemeClr val="tx1"/>
                          </a:solidFill>
                        </a:rPr>
                        <m:t>𝜀</m:t>
                      </m:r>
                      <m:r>
                        <a:rPr lang="ru-RU" i="1">
                          <a:solidFill>
                            <a:schemeClr val="tx1"/>
                          </a:solidFill>
                        </a:rPr>
                        <m:t>,∀</m:t>
                      </m:r>
                      <m:r>
                        <a:rPr lang="ru-RU" i="1">
                          <a:solidFill>
                            <a:schemeClr val="tx1"/>
                          </a:solidFill>
                        </a:rPr>
                        <m:t>𝑥</m:t>
                      </m:r>
                      <m:r>
                        <a:rPr lang="ru-RU" i="1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a:rPr lang="ru-RU" i="1">
                          <a:solidFill>
                            <a:schemeClr val="tx1"/>
                          </a:solidFill>
                        </a:rPr>
                        <m:t>𝜖</m:t>
                      </m:r>
                      <m:r>
                        <a:rPr lang="ru-RU" i="1">
                          <a:solidFill>
                            <a:schemeClr val="tx1"/>
                          </a:solidFill>
                        </a:rPr>
                        <m:t> </m:t>
                      </m:r>
                      <m:r>
                        <a:rPr lang="ru-RU" i="1">
                          <a:solidFill>
                            <a:schemeClr val="tx1"/>
                          </a:solidFill>
                        </a:rPr>
                        <m:t>𝐷</m:t>
                      </m:r>
                      <m:r>
                        <a:rPr lang="ru-RU" i="1">
                          <a:solidFill>
                            <a:schemeClr val="tx1"/>
                          </a:solidFill>
                        </a:rPr>
                        <m:t>,∀</m:t>
                      </m:r>
                      <m:r>
                        <a:rPr lang="ru-RU" i="1">
                          <a:solidFill>
                            <a:schemeClr val="tx1"/>
                          </a:solidFill>
                        </a:rPr>
                        <m:t>𝑛</m:t>
                      </m:r>
                      <m:r>
                        <a:rPr lang="ru-RU" i="1">
                          <a:solidFill>
                            <a:schemeClr val="tx1"/>
                          </a:solidFill>
                        </a:rPr>
                        <m:t>≥</m:t>
                      </m:r>
                      <m:r>
                        <a:rPr lang="ru-RU" i="1">
                          <a:solidFill>
                            <a:schemeClr val="tx1"/>
                          </a:solidFill>
                        </a:rPr>
                        <m:t>𝑁</m:t>
                      </m:r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4" name="Прямоугольник 3">
                <a:extLst>
                  <a:ext uri="{FF2B5EF4-FFF2-40B4-BE49-F238E27FC236}">
                    <a16:creationId xmlns:a16="http://schemas.microsoft.com/office/drawing/2014/main" id="{1646DC62-E0E6-5648-91EF-B952F6E4836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809373"/>
                <a:ext cx="5450305" cy="123925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9941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9EB61D6A-E05A-1048-A3DB-2ABB77438F74}"/>
              </a:ext>
            </a:extLst>
          </p:cNvPr>
          <p:cNvSpPr/>
          <p:nvPr/>
        </p:nvSpPr>
        <p:spPr>
          <a:xfrm>
            <a:off x="517358" y="409074"/>
            <a:ext cx="8831179" cy="7700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BY" sz="2800" b="1" dirty="0">
                <a:solidFill>
                  <a:schemeClr val="tx1"/>
                </a:solidFill>
              </a:rPr>
              <a:t>2.Тригонометрический ряд Фурье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>
                <a:extLst>
                  <a:ext uri="{FF2B5EF4-FFF2-40B4-BE49-F238E27FC236}">
                    <a16:creationId xmlns:a16="http://schemas.microsoft.com/office/drawing/2014/main" id="{1FDE2581-EAD1-E94A-945B-055DCC7B9CE4}"/>
                  </a:ext>
                </a:extLst>
              </p:cNvPr>
              <p:cNvSpPr/>
              <p:nvPr/>
            </p:nvSpPr>
            <p:spPr>
              <a:xfrm>
                <a:off x="673768" y="1179095"/>
                <a:ext cx="8181474" cy="90236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ru-BY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BY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ru-RU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ru-RU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ru-RU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grow m:val="on"/>
                        <m:ctrlPr>
                          <a:rPr lang="ru-BY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ru-RU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ru-RU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ctrlPr>
                              <a:rPr lang="ru-BY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ru-BY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ru-RU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func>
                              <m:funcPr>
                                <m:ctrlPr>
                                  <a:rPr lang="ru-BY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ru-RU" sz="28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cos</m:t>
                                </m:r>
                              </m:fName>
                              <m:e>
                                <m:r>
                                  <m:rPr>
                                    <m:sty m:val="p"/>
                                  </m:rPr>
                                  <a:rPr lang="ru-RU" sz="28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kx</m:t>
                                </m:r>
                              </m:e>
                            </m:func>
                            <m:r>
                              <a:rPr lang="ru-RU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ru-BY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ru-RU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lang="ru-RU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  <m:func>
                              <m:funcPr>
                                <m:ctrlPr>
                                  <a:rPr lang="ru-BY" sz="28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ru-RU" sz="28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sin</m:t>
                                </m:r>
                              </m:fName>
                              <m:e>
                                <m:r>
                                  <m:rPr>
                                    <m:sty m:val="p"/>
                                  </m:rPr>
                                  <a:rPr lang="ru-RU" sz="28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kx</m:t>
                                </m:r>
                              </m:e>
                            </m:func>
                          </m:e>
                        </m:d>
                      </m:e>
                    </m:nary>
                  </m:oMath>
                </a14:m>
                <a:r>
                  <a:rPr lang="ru-BY" dirty="0">
                    <a:solidFill>
                      <a:schemeClr val="tx1"/>
                    </a:solidFill>
                    <a:effectLst/>
                  </a:rPr>
                  <a:t> </a:t>
                </a:r>
                <a:endParaRPr lang="ru-BY" dirty="0"/>
              </a:p>
            </p:txBody>
          </p:sp>
        </mc:Choice>
        <mc:Fallback xmlns="">
          <p:sp>
            <p:nvSpPr>
              <p:cNvPr id="3" name="Прямоугольник 2">
                <a:extLst>
                  <a:ext uri="{FF2B5EF4-FFF2-40B4-BE49-F238E27FC236}">
                    <a16:creationId xmlns:a16="http://schemas.microsoft.com/office/drawing/2014/main" id="{1FDE2581-EAD1-E94A-945B-055DCC7B9CE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768" y="1179095"/>
                <a:ext cx="8181474" cy="902369"/>
              </a:xfrm>
              <a:prstGeom prst="rect">
                <a:avLst/>
              </a:prstGeom>
              <a:blipFill>
                <a:blip r:embed="rId2"/>
                <a:stretch>
                  <a:fillRect t="-54795" b="-87671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Ряд Фурье. Разложение функции в ряд Фурье. Разложение функции в ряд синусов  и косинусов. Ряды Фурье: история и влияние математического механизма на  развитие науки Разложение в ряд фурье для чайников">
            <a:extLst>
              <a:ext uri="{FF2B5EF4-FFF2-40B4-BE49-F238E27FC236}">
                <a16:creationId xmlns:a16="http://schemas.microsoft.com/office/drawing/2014/main" id="{BC009D97-EB1D-4241-90AE-99EEFDA6FD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9972" y="3147260"/>
            <a:ext cx="6337300" cy="3301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>
                <a:extLst>
                  <a:ext uri="{FF2B5EF4-FFF2-40B4-BE49-F238E27FC236}">
                    <a16:creationId xmlns:a16="http://schemas.microsoft.com/office/drawing/2014/main" id="{97AC1438-F7D5-7340-BD69-EEECEED4902C}"/>
                  </a:ext>
                </a:extLst>
              </p:cNvPr>
              <p:cNvSpPr/>
              <p:nvPr/>
            </p:nvSpPr>
            <p:spPr>
              <a:xfrm>
                <a:off x="673768" y="1961147"/>
                <a:ext cx="8987590" cy="1186113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BY" dirty="0">
                    <a:solidFill>
                      <a:schemeClr val="tx1"/>
                    </a:solidFill>
                  </a:rPr>
                  <a:t>Коэффициенты тригонометрического ряда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BY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ru-RU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</m:sSub>
                    <m:r>
                      <a:rPr lang="ru-RU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BY" dirty="0">
                    <a:solidFill>
                      <a:schemeClr val="tx1"/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BY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b>
                        <m:r>
                          <a:rPr lang="ru-RU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ru-RU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и</m:t>
                    </m:r>
                  </m:oMath>
                </a14:m>
                <a:r>
                  <a:rPr lang="ru-BY" dirty="0">
                    <a:solidFill>
                      <a:schemeClr val="tx1"/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BY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ru-RU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ru-BY" b="1" dirty="0">
                    <a:solidFill>
                      <a:schemeClr val="tx1"/>
                    </a:solidFill>
                    <a:effectLst/>
                  </a:rPr>
                  <a:t> </a:t>
                </a:r>
                <a:r>
                  <a:rPr lang="ru-BY" dirty="0">
                    <a:solidFill>
                      <a:schemeClr val="tx1"/>
                    </a:solidFill>
                  </a:rPr>
                  <a:t>можем найти по следующим формулам:</a:t>
                </a:r>
                <a:endParaRPr lang="ru-BY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Прямоугольник 3">
                <a:extLst>
                  <a:ext uri="{FF2B5EF4-FFF2-40B4-BE49-F238E27FC236}">
                    <a16:creationId xmlns:a16="http://schemas.microsoft.com/office/drawing/2014/main" id="{97AC1438-F7D5-7340-BD69-EEECEED490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768" y="1961147"/>
                <a:ext cx="8987590" cy="11861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9791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>
                <a:extLst>
                  <a:ext uri="{FF2B5EF4-FFF2-40B4-BE49-F238E27FC236}">
                    <a16:creationId xmlns:a16="http://schemas.microsoft.com/office/drawing/2014/main" id="{DB6690CC-7209-0A41-AA35-7249EAFB8E1F}"/>
                  </a:ext>
                </a:extLst>
              </p:cNvPr>
              <p:cNvSpPr/>
              <p:nvPr/>
            </p:nvSpPr>
            <p:spPr>
              <a:xfrm>
                <a:off x="0" y="469232"/>
                <a:ext cx="8205537" cy="90236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BY" dirty="0">
                    <a:solidFill>
                      <a:schemeClr val="tx1"/>
                    </a:solidFill>
                  </a:rPr>
                  <a:t>Частичная сумма ряда Фурье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функции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BY" dirty="0">
                    <a:solidFill>
                      <a:schemeClr val="tx1"/>
                    </a:solidFill>
                  </a:rPr>
                  <a:t>, заданная </a:t>
                </a:r>
                <a:r>
                  <a:rPr lang="en-US" dirty="0" err="1">
                    <a:solidFill>
                      <a:schemeClr val="tx1"/>
                    </a:solidFill>
                  </a:rPr>
                  <a:t>в</a:t>
                </a:r>
                <a:r>
                  <a:rPr lang="ru-BY" dirty="0">
                    <a:solidFill>
                      <a:schemeClr val="tx1"/>
                    </a:solidFill>
                  </a:rPr>
                  <a:t> интервале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lang="ru-BY" dirty="0">
                    <a:solidFill>
                      <a:schemeClr val="tx1"/>
                    </a:solidFill>
                  </a:rPr>
                  <a:t> имеет вид</a:t>
                </a:r>
                <a:r>
                  <a:rPr lang="en-US" dirty="0">
                    <a:solidFill>
                      <a:schemeClr val="tx1"/>
                    </a:solidFill>
                  </a:rPr>
                  <a:t>:</a:t>
                </a:r>
                <a:endParaRPr lang="ru-BY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Прямоугольник 1">
                <a:extLst>
                  <a:ext uri="{FF2B5EF4-FFF2-40B4-BE49-F238E27FC236}">
                    <a16:creationId xmlns:a16="http://schemas.microsoft.com/office/drawing/2014/main" id="{DB6690CC-7209-0A41-AA35-7249EAFB8E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69232"/>
                <a:ext cx="8205537" cy="9023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>
                <a:extLst>
                  <a:ext uri="{FF2B5EF4-FFF2-40B4-BE49-F238E27FC236}">
                    <a16:creationId xmlns:a16="http://schemas.microsoft.com/office/drawing/2014/main" id="{BD7F2376-5E0B-D341-ABC1-FB31FB7513CF}"/>
                  </a:ext>
                </a:extLst>
              </p:cNvPr>
              <p:cNvSpPr/>
              <p:nvPr/>
            </p:nvSpPr>
            <p:spPr>
              <a:xfrm>
                <a:off x="685802" y="1371600"/>
                <a:ext cx="8133347" cy="125128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ru-BY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ru-B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BY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ru-RU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ru-BY" dirty="0">
                    <a:solidFill>
                      <a:schemeClr val="tx1"/>
                    </a:solidFill>
                    <a:effectLst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B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den>
                    </m:f>
                    <m:nary>
                      <m:naryPr>
                        <m:limLoc m:val="undOvr"/>
                        <m:ctrlPr>
                          <a:rPr lang="ru-BY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  <m:sup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ru-BY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d>
                          <m:dPr>
                            <m:begChr m:val="{"/>
                            <m:endChr m:val="}"/>
                            <m:ctrlPr>
                              <a:rPr lang="ru-BY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ru-BY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ru-RU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ru-BY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p>
                              <m:e>
                                <m:r>
                                  <a:rPr lang="ru-RU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𝑐𝑜𝑠𝑘</m:t>
                                </m:r>
                                <m:d>
                                  <m:dPr>
                                    <m:ctrlPr>
                                      <a:rPr lang="ru-BY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ru-RU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ru-BY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ru-RU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b>
                                        <m:r>
                                          <a:rPr lang="ru-RU" i="1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e>
                        </m:d>
                        <m:r>
                          <a:rPr lang="ru-RU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.</m:t>
                        </m:r>
                      </m:e>
                    </m:nary>
                  </m:oMath>
                </a14:m>
                <a:endParaRPr lang="ru-BY" dirty="0"/>
              </a:p>
            </p:txBody>
          </p:sp>
        </mc:Choice>
        <mc:Fallback xmlns="">
          <p:sp>
            <p:nvSpPr>
              <p:cNvPr id="3" name="Прямоугольник 2">
                <a:extLst>
                  <a:ext uri="{FF2B5EF4-FFF2-40B4-BE49-F238E27FC236}">
                    <a16:creationId xmlns:a16="http://schemas.microsoft.com/office/drawing/2014/main" id="{BD7F2376-5E0B-D341-ABC1-FB31FB7513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2" y="1371600"/>
                <a:ext cx="8133347" cy="1251284"/>
              </a:xfrm>
              <a:prstGeom prst="rect">
                <a:avLst/>
              </a:prstGeom>
              <a:blipFill>
                <a:blip r:embed="rId3"/>
                <a:stretch>
                  <a:fillRect t="-7071" b="-2929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575676FA-1725-7C41-A096-5CD2731E8737}"/>
                  </a:ext>
                </a:extLst>
              </p:cNvPr>
              <p:cNvSpPr/>
              <p:nvPr/>
            </p:nvSpPr>
            <p:spPr>
              <a:xfrm>
                <a:off x="0" y="3134228"/>
                <a:ext cx="7964904" cy="220177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BY" dirty="0">
                    <a:solidFill>
                      <a:schemeClr val="tx1"/>
                    </a:solidFill>
                  </a:rPr>
                  <a:t>Выражение в фигурных скобках является ядром Дирихле.Преобразовав, получим</a:t>
                </a:r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интеграл Дирихле</a:t>
                </a:r>
                <a:r>
                  <a:rPr lang="en-US" dirty="0">
                    <a:solidFill>
                      <a:schemeClr val="tx1"/>
                    </a:solidFill>
                  </a:rPr>
                  <a:t>:</a:t>
                </a:r>
                <a:endParaRPr lang="ru-RU" dirty="0">
                  <a:solidFill>
                    <a:schemeClr val="tx1"/>
                  </a:solidFill>
                </a:endParaRP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BY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B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ru-RU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limLoc m:val="undOvr"/>
                          <m:ctrlPr>
                            <a:rPr lang="ru-BY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  <m:sup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sSub>
                        <m:sSub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B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ru-RU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ru-RU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   </m:t>
                      </m:r>
                    </m:oMath>
                  </m:oMathPara>
                </a14:m>
                <a:endParaRPr lang="ru-BY" dirty="0"/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endParaRPr lang="ru-BY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575676FA-1725-7C41-A096-5CD2731E87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134228"/>
                <a:ext cx="7964904" cy="2201778"/>
              </a:xfrm>
              <a:prstGeom prst="rect">
                <a:avLst/>
              </a:prstGeom>
              <a:blipFill>
                <a:blip r:embed="rId4"/>
                <a:stretch>
                  <a:fillRect l="-637" t="-10286" r="-1274" b="-4685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098" name="Picture 2" descr="The Dirichlet kernel for d = 1 plotted at N = 10 and N = 40 | Download  Scientific Diagram">
            <a:extLst>
              <a:ext uri="{FF2B5EF4-FFF2-40B4-BE49-F238E27FC236}">
                <a16:creationId xmlns:a16="http://schemas.microsoft.com/office/drawing/2014/main" id="{166A7028-F1EE-9048-B04D-D8ED5CC498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4905" y="0"/>
            <a:ext cx="422709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1453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34631AA-B244-224C-BCE5-B08998A2AE69}"/>
              </a:ext>
            </a:extLst>
          </p:cNvPr>
          <p:cNvSpPr/>
          <p:nvPr/>
        </p:nvSpPr>
        <p:spPr>
          <a:xfrm>
            <a:off x="1275347" y="529389"/>
            <a:ext cx="7676148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BY" sz="2400" dirty="0">
                <a:solidFill>
                  <a:schemeClr val="accent1">
                    <a:lumMod val="50000"/>
                  </a:schemeClr>
                </a:solidFill>
              </a:rPr>
              <a:t>Равномерная сходимость ряда Фурье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>
                <a:extLst>
                  <a:ext uri="{FF2B5EF4-FFF2-40B4-BE49-F238E27FC236}">
                    <a16:creationId xmlns:a16="http://schemas.microsoft.com/office/drawing/2014/main" id="{03AA2333-6711-3E47-A263-54282FF66D0E}"/>
                  </a:ext>
                </a:extLst>
              </p:cNvPr>
              <p:cNvSpPr/>
              <p:nvPr/>
            </p:nvSpPr>
            <p:spPr>
              <a:xfrm>
                <a:off x="493295" y="1227221"/>
                <a:ext cx="4475747" cy="510139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ru-BY" dirty="0">
                    <a:solidFill>
                      <a:schemeClr val="tx1"/>
                    </a:solidFill>
                  </a:rPr>
                  <a:t>Ряд Фурье функции f(x) сходится равномерно к этой функции, если</a:t>
                </a:r>
              </a:p>
              <a:p>
                <a:r>
                  <a:rPr lang="ru-BY" dirty="0">
                    <a:solidFill>
                      <a:schemeClr val="tx1"/>
                    </a:solidFill>
                  </a:rPr>
                  <a:t> 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B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ru-BY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ru-B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ru-B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ru-B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unc>
                                <m:funcPr>
                                  <m:ctrlPr>
                                    <a:rPr lang="ru-BY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limLow>
                                    <m:limLowPr>
                                      <m:ctrlPr>
                                        <a:rPr lang="ru-BY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limLow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ru-BY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sup</m:t>
                                      </m:r>
                                    </m:e>
                                    <m:lim>
                                      <m:r>
                                        <a:rPr lang="ru-BY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ru-BY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𝜖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ru-BY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ru-BY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  <m:r>
                                            <a:rPr lang="ru-BY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ru-BY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e>
                                      </m:d>
                                    </m:lim>
                                  </m:limLow>
                                </m:fName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ru-BY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BY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ru-BY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ru-BY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  <m:r>
                                        <a:rPr lang="ru-BY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ru-BY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BY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ru-BY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ru-BY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ru-BY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d>
                          <m: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=0.</m:t>
                          </m:r>
                        </m:e>
                      </m:func>
                    </m:oMath>
                  </m:oMathPara>
                </a14:m>
                <a:endParaRPr lang="ru-BY" dirty="0">
                  <a:solidFill>
                    <a:schemeClr val="tx1"/>
                  </a:solidFill>
                </a:endParaRPr>
              </a:p>
              <a:p>
                <a:pPr algn="ctr"/>
                <a:endParaRPr lang="ru-BY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Прямоугольник 2">
                <a:extLst>
                  <a:ext uri="{FF2B5EF4-FFF2-40B4-BE49-F238E27FC236}">
                    <a16:creationId xmlns:a16="http://schemas.microsoft.com/office/drawing/2014/main" id="{03AA2333-6711-3E47-A263-54282FF66D0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295" y="1227221"/>
                <a:ext cx="4475747" cy="5101390"/>
              </a:xfrm>
              <a:prstGeom prst="rect">
                <a:avLst/>
              </a:prstGeom>
              <a:blipFill>
                <a:blip r:embed="rId2"/>
                <a:stretch>
                  <a:fillRect l="-84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2" name="Picture 2">
            <a:extLst>
              <a:ext uri="{FF2B5EF4-FFF2-40B4-BE49-F238E27FC236}">
                <a16:creationId xmlns:a16="http://schemas.microsoft.com/office/drawing/2014/main" id="{9302B682-A961-0045-82BD-5E3195CCC5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8537" y="2267953"/>
            <a:ext cx="3810000" cy="3019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27086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>
                <a:extLst>
                  <a:ext uri="{FF2B5EF4-FFF2-40B4-BE49-F238E27FC236}">
                    <a16:creationId xmlns:a16="http://schemas.microsoft.com/office/drawing/2014/main" id="{8F4E6B19-E49B-4840-BF51-BA80B45E58B3}"/>
                  </a:ext>
                </a:extLst>
              </p:cNvPr>
              <p:cNvSpPr/>
              <p:nvPr/>
            </p:nvSpPr>
            <p:spPr>
              <a:xfrm>
                <a:off x="589547" y="806117"/>
                <a:ext cx="8398042" cy="129941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ru-BY" b="1" dirty="0">
                    <a:solidFill>
                      <a:schemeClr val="tx1"/>
                    </a:solidFill>
                  </a:rPr>
                  <a:t>Лемма</a:t>
                </a:r>
                <a:r>
                  <a:rPr lang="ru-BY" dirty="0">
                    <a:solidFill>
                      <a:schemeClr val="tx1"/>
                    </a:solidFill>
                  </a:rPr>
                  <a:t>.</a:t>
                </a:r>
                <a:r>
                  <a:rPr lang="ru-RU" dirty="0">
                    <a:solidFill>
                      <a:schemeClr val="tx1"/>
                    </a:solidFill>
                  </a:rPr>
                  <a:t> Если функция </a:t>
                </a:r>
                <a:r>
                  <a:rPr lang="en-US" dirty="0">
                    <a:solidFill>
                      <a:schemeClr val="tx1"/>
                    </a:solidFill>
                  </a:rPr>
                  <a:t>g</a:t>
                </a:r>
                <a:r>
                  <a:rPr lang="ru-RU" dirty="0">
                    <a:solidFill>
                      <a:schemeClr val="tx1"/>
                    </a:solidFill>
                  </a:rPr>
                  <a:t>(</a:t>
                </a:r>
                <a:r>
                  <a:rPr lang="en-US" dirty="0">
                    <a:solidFill>
                      <a:schemeClr val="tx1"/>
                    </a:solidFill>
                  </a:rPr>
                  <a:t>t</a:t>
                </a:r>
                <a:r>
                  <a:rPr lang="ru-RU" dirty="0">
                    <a:solidFill>
                      <a:schemeClr val="tx1"/>
                    </a:solidFill>
                  </a:rPr>
                  <a:t>) абсолютно интегрируема в некотором конечном промежутке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B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,то</a:t>
                </a:r>
                <a:endParaRPr lang="ru-BY" dirty="0">
                  <a:solidFill>
                    <a:schemeClr val="tx1"/>
                  </a:solidFill>
                </a:endParaRPr>
              </a:p>
              <a:p>
                <a:r>
                  <a:rPr lang="ru-RU" dirty="0">
                    <a:solidFill>
                      <a:schemeClr val="tx1"/>
                    </a:solidFill>
                  </a:rPr>
                  <a:t> </a:t>
                </a:r>
                <a:endParaRPr lang="ru-BY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B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ru-RU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limLoc m:val="undOvr"/>
                              <m:ctrlPr>
                                <a:rPr lang="ru-B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  <m:e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d>
                                <m:dPr>
                                  <m:ctrlPr>
                                    <a:rPr lang="ru-BY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func>
                                <m:funcPr>
                                  <m:ctrlPr>
                                    <a:rPr lang="ru-BY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ru-RU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𝑝𝑡𝑑𝑡</m:t>
                                  </m:r>
                                  <m: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=0                                                  </m:t>
                                  </m:r>
                                </m:e>
                              </m:func>
                            </m:e>
                          </m:nary>
                        </m:e>
                      </m:func>
                    </m:oMath>
                  </m:oMathPara>
                </a14:m>
                <a:endParaRPr lang="ru-BY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Прямоугольник 2">
                <a:extLst>
                  <a:ext uri="{FF2B5EF4-FFF2-40B4-BE49-F238E27FC236}">
                    <a16:creationId xmlns:a16="http://schemas.microsoft.com/office/drawing/2014/main" id="{8F4E6B19-E49B-4840-BF51-BA80B45E58B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547" y="806117"/>
                <a:ext cx="8398042" cy="1299410"/>
              </a:xfrm>
              <a:prstGeom prst="rect">
                <a:avLst/>
              </a:prstGeom>
              <a:blipFill>
                <a:blip r:embed="rId2"/>
                <a:stretch>
                  <a:fillRect l="-604" t="-28155" b="-13786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>
                <a:extLst>
                  <a:ext uri="{FF2B5EF4-FFF2-40B4-BE49-F238E27FC236}">
                    <a16:creationId xmlns:a16="http://schemas.microsoft.com/office/drawing/2014/main" id="{7F821FDB-E5BF-544D-9680-31607592B020}"/>
                  </a:ext>
                </a:extLst>
              </p:cNvPr>
              <p:cNvSpPr/>
              <p:nvPr/>
            </p:nvSpPr>
            <p:spPr>
              <a:xfrm>
                <a:off x="397041" y="2370220"/>
                <a:ext cx="7928811" cy="179270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ru-RU" b="1" dirty="0">
                    <a:solidFill>
                      <a:schemeClr val="tx1"/>
                    </a:solidFill>
                  </a:rPr>
                  <a:t>Теорема Римана</a:t>
                </a:r>
                <a:r>
                  <a:rPr lang="ru-RU" dirty="0">
                    <a:solidFill>
                      <a:schemeClr val="tx1"/>
                    </a:solidFill>
                  </a:rPr>
                  <a:t>. Поведение ряда Фурье функции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в некоторой точке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B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зависит исключительно от значений, принимаемых функцией в сколь угодно малой ее окрестности.</a:t>
                </a:r>
                <a:endParaRPr lang="ru-BY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Прямоугольник 3">
                <a:extLst>
                  <a:ext uri="{FF2B5EF4-FFF2-40B4-BE49-F238E27FC236}">
                    <a16:creationId xmlns:a16="http://schemas.microsoft.com/office/drawing/2014/main" id="{7F821FDB-E5BF-544D-9680-31607592B02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041" y="2370220"/>
                <a:ext cx="7928811" cy="1792705"/>
              </a:xfrm>
              <a:prstGeom prst="rect">
                <a:avLst/>
              </a:prstGeom>
              <a:blipFill>
                <a:blip r:embed="rId3"/>
                <a:stretch>
                  <a:fillRect l="-640" r="-144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0D9A7077-DEBB-E446-90E7-70209878D085}"/>
                  </a:ext>
                </a:extLst>
              </p:cNvPr>
              <p:cNvSpPr/>
              <p:nvPr/>
            </p:nvSpPr>
            <p:spPr>
              <a:xfrm>
                <a:off x="637673" y="4162925"/>
                <a:ext cx="7688179" cy="14558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ru-RU" b="1" dirty="0">
                    <a:solidFill>
                      <a:schemeClr val="tx1"/>
                    </a:solidFill>
                  </a:rPr>
                  <a:t>Следствие</a:t>
                </a:r>
                <a:r>
                  <a:rPr lang="ru-RU" dirty="0">
                    <a:solidFill>
                      <a:schemeClr val="tx1"/>
                    </a:solidFill>
                  </a:rPr>
                  <a:t>. Коэффициенты Фурье (1.10-1.11) абсолютно интегрируемой функции стремятся к нулю при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</a:t>
                </a:r>
                <a:endParaRPr lang="ru-BY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0D9A7077-DEBB-E446-90E7-70209878D0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673" y="4162925"/>
                <a:ext cx="7688179" cy="1455821"/>
              </a:xfrm>
              <a:prstGeom prst="rect">
                <a:avLst/>
              </a:prstGeom>
              <a:blipFill>
                <a:blip r:embed="rId4"/>
                <a:stretch>
                  <a:fillRect l="-66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74182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748B9595-972F-1E4C-B52D-ABCCA27EADB2}"/>
              </a:ext>
            </a:extLst>
          </p:cNvPr>
          <p:cNvSpPr/>
          <p:nvPr/>
        </p:nvSpPr>
        <p:spPr>
          <a:xfrm>
            <a:off x="469231" y="360947"/>
            <a:ext cx="5626769" cy="914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BY" sz="2800" b="1" dirty="0">
                <a:solidFill>
                  <a:schemeClr val="accent1">
                    <a:lumMod val="50000"/>
                  </a:schemeClr>
                </a:solidFill>
              </a:rPr>
              <a:t>Сходимость ряда Фурье в точке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>
                <a:extLst>
                  <a:ext uri="{FF2B5EF4-FFF2-40B4-BE49-F238E27FC236}">
                    <a16:creationId xmlns:a16="http://schemas.microsoft.com/office/drawing/2014/main" id="{B185B834-1C32-DC45-8AEC-856D0E0B50A5}"/>
                  </a:ext>
                </a:extLst>
              </p:cNvPr>
              <p:cNvSpPr/>
              <p:nvPr/>
            </p:nvSpPr>
            <p:spPr>
              <a:xfrm>
                <a:off x="866274" y="1491916"/>
                <a:ext cx="5229726" cy="36696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ru-RU" b="1" dirty="0"/>
                  <a:t>. </a:t>
                </a:r>
                <a:r>
                  <a:rPr lang="ru-RU" dirty="0">
                    <a:solidFill>
                      <a:schemeClr val="tx1"/>
                    </a:solidFill>
                  </a:rPr>
                  <a:t>Пусть 2</a:t>
                </a:r>
                <a:r>
                  <a:rPr lang="ru-RU" i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ru-RU" i="1" dirty="0">
                    <a:solidFill>
                      <a:schemeClr val="tx1"/>
                    </a:solidFill>
                  </a:rPr>
                  <a:t>-</a:t>
                </a:r>
                <a:r>
                  <a:rPr lang="ru-RU" dirty="0">
                    <a:solidFill>
                      <a:schemeClr val="tx1"/>
                    </a:solidFill>
                  </a:rPr>
                  <a:t>периодическая функция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является кусочно-гладкой на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[−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 .Тогда ее ряд Фурье сходится к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в каждой ее точке непрерывности и к значению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ru-B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ru-B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+0</m:t>
                        </m:r>
                      </m:e>
                    </m:d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−0))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в точке разрыва, т.е. для кусочно-гладкой 2</a:t>
                </a:r>
                <a:r>
                  <a:rPr lang="ru-RU" i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ru-RU" i="1" dirty="0">
                    <a:solidFill>
                      <a:schemeClr val="tx1"/>
                    </a:solidFill>
                  </a:rPr>
                  <a:t>-</a:t>
                </a:r>
                <a:r>
                  <a:rPr lang="ru-RU" dirty="0">
                    <a:solidFill>
                      <a:schemeClr val="tx1"/>
                    </a:solidFill>
                  </a:rPr>
                  <a:t>периодической функции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ru-B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имеет место равенство </a:t>
                </a:r>
                <a:endParaRPr lang="ru-BY" dirty="0">
                  <a:solidFill>
                    <a:schemeClr val="tx1"/>
                  </a:solidFill>
                </a:endParaRPr>
              </a:p>
              <a:p>
                <a:r>
                  <a:rPr lang="ru-RU" dirty="0">
                    <a:solidFill>
                      <a:schemeClr val="tx1"/>
                    </a:solidFill>
                  </a:rPr>
                  <a:t> </a:t>
                </a:r>
                <a:endParaRPr lang="ru-BY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B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ru-RU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lang="ru-B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ru-B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BY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ru-B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ru-BY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+0</m:t>
                                  </m:r>
                                </m:e>
                              </m:d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−0)</m:t>
                              </m:r>
                            </m:num>
                            <m:den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func>
                    </m:oMath>
                  </m:oMathPara>
                </a14:m>
                <a:endParaRPr lang="ru-BY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Прямоугольник 2">
                <a:extLst>
                  <a:ext uri="{FF2B5EF4-FFF2-40B4-BE49-F238E27FC236}">
                    <a16:creationId xmlns:a16="http://schemas.microsoft.com/office/drawing/2014/main" id="{B185B834-1C32-DC45-8AEC-856D0E0B50A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274" y="1491916"/>
                <a:ext cx="5229726" cy="3669631"/>
              </a:xfrm>
              <a:prstGeom prst="rect">
                <a:avLst/>
              </a:prstGeom>
              <a:blipFill>
                <a:blip r:embed="rId2"/>
                <a:stretch>
                  <a:fillRect l="-969" r="-145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D1DDE13-12D1-D546-BF2A-09DBD2718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8453" y="0"/>
            <a:ext cx="59235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1545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699DDCE0-863B-8D41-AD16-73C174DB1EB2}"/>
              </a:ext>
            </a:extLst>
          </p:cNvPr>
          <p:cNvSpPr/>
          <p:nvPr/>
        </p:nvSpPr>
        <p:spPr>
          <a:xfrm>
            <a:off x="685800" y="397043"/>
            <a:ext cx="8951495" cy="11670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BY" sz="2800" dirty="0">
                <a:solidFill>
                  <a:schemeClr val="tx1"/>
                </a:solidFill>
              </a:rPr>
              <a:t>3.Ряд Фурье в Гильбертовом пространстве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Прямоугольник 2">
                <a:extLst>
                  <a:ext uri="{FF2B5EF4-FFF2-40B4-BE49-F238E27FC236}">
                    <a16:creationId xmlns:a16="http://schemas.microsoft.com/office/drawing/2014/main" id="{36A64449-F622-F743-8586-B5C56A58B9EE}"/>
                  </a:ext>
                </a:extLst>
              </p:cNvPr>
              <p:cNvSpPr/>
              <p:nvPr/>
            </p:nvSpPr>
            <p:spPr>
              <a:xfrm>
                <a:off x="938463" y="1564106"/>
                <a:ext cx="9023684" cy="44276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ru-RU" b="1" i="1" dirty="0">
                    <a:solidFill>
                      <a:schemeClr val="tx1"/>
                    </a:solidFill>
                  </a:rPr>
                  <a:t>Рядом Фурье </a:t>
                </a:r>
                <a:r>
                  <a:rPr lang="ru-RU" dirty="0">
                    <a:solidFill>
                      <a:schemeClr val="tx1"/>
                    </a:solidFill>
                  </a:rPr>
                  <a:t>функции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на отрезке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B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  по ортогональной системе функций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B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BY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ru-RU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называется ряд </a:t>
                </a:r>
                <a:endParaRPr lang="ru-BY" dirty="0">
                  <a:solidFill>
                    <a:schemeClr val="tx1"/>
                  </a:solidFill>
                </a:endParaRPr>
              </a:p>
              <a:p>
                <a:r>
                  <a:rPr lang="ru-RU" dirty="0">
                    <a:solidFill>
                      <a:schemeClr val="tx1"/>
                    </a:solidFill>
                  </a:rPr>
                  <a:t> </a:t>
                </a:r>
                <a:endParaRPr lang="ru-BY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sSub>
                        <m:sSub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     </m:t>
                          </m:r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+...+</m:t>
                      </m:r>
                      <m:sSub>
                        <m:sSub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+...=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BY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ru-B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B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ru-B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ru-BY" dirty="0">
                  <a:solidFill>
                    <a:schemeClr val="tx1"/>
                  </a:solidFill>
                </a:endParaRPr>
              </a:p>
              <a:p>
                <a:r>
                  <a:rPr lang="ru-RU" dirty="0">
                    <a:solidFill>
                      <a:schemeClr val="tx1"/>
                    </a:solidFill>
                  </a:rPr>
                  <a:t>Коэффициенты которого определяются равенством</a:t>
                </a:r>
                <a:r>
                  <a:rPr lang="en-US" dirty="0">
                    <a:solidFill>
                      <a:schemeClr val="tx1"/>
                    </a:solidFill>
                  </a:rPr>
                  <a:t>:</a:t>
                </a:r>
              </a:p>
              <a:p>
                <a:endParaRPr lang="en-US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BY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ru-B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p>
                            <m:sSupPr>
                              <m:ctrlPr>
                                <a:rPr lang="ru-B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ru-BY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ru-BY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𝜑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ru-RU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ru-RU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ru-RU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=0,1,…</m:t>
                      </m:r>
                    </m:oMath>
                  </m:oMathPara>
                </a14:m>
                <a:endParaRPr lang="ru-BY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Прямоугольник 2">
                <a:extLst>
                  <a:ext uri="{FF2B5EF4-FFF2-40B4-BE49-F238E27FC236}">
                    <a16:creationId xmlns:a16="http://schemas.microsoft.com/office/drawing/2014/main" id="{36A64449-F622-F743-8586-B5C56A58B9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463" y="1564106"/>
                <a:ext cx="9023684" cy="4427620"/>
              </a:xfrm>
              <a:prstGeom prst="rect">
                <a:avLst/>
              </a:prstGeom>
              <a:blipFill>
                <a:blip r:embed="rId2"/>
                <a:stretch>
                  <a:fillRect l="-421" r="-5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0948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Прямоугольник 1">
                <a:extLst>
                  <a:ext uri="{FF2B5EF4-FFF2-40B4-BE49-F238E27FC236}">
                    <a16:creationId xmlns:a16="http://schemas.microsoft.com/office/drawing/2014/main" id="{7A87306E-D6AC-F041-9354-2F0B42C25A15}"/>
                  </a:ext>
                </a:extLst>
              </p:cNvPr>
              <p:cNvSpPr/>
              <p:nvPr/>
            </p:nvSpPr>
            <p:spPr>
              <a:xfrm>
                <a:off x="902369" y="348916"/>
                <a:ext cx="8169442" cy="581125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ru-RU" dirty="0">
                    <a:solidFill>
                      <a:schemeClr val="tx1"/>
                    </a:solidFill>
                  </a:rPr>
                  <a:t>Пусть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B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BY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ru-RU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- ортогональная на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B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 система функций. Выражение</a:t>
                </a:r>
                <a:endParaRPr lang="ru-BY" dirty="0">
                  <a:solidFill>
                    <a:schemeClr val="tx1"/>
                  </a:solidFill>
                </a:endParaRPr>
              </a:p>
              <a:p>
                <a:r>
                  <a:rPr lang="ru-RU" dirty="0">
                    <a:solidFill>
                      <a:schemeClr val="tx1"/>
                    </a:solidFill>
                  </a:rPr>
                  <a:t> </a:t>
                </a:r>
                <a:endParaRPr lang="ru-BY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+...+</m:t>
                      </m:r>
                      <m:sSub>
                        <m:sSub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ru-BY" dirty="0">
                  <a:solidFill>
                    <a:schemeClr val="tx1"/>
                  </a:solidFill>
                </a:endParaRPr>
              </a:p>
              <a:p>
                <a:r>
                  <a:rPr lang="ru-RU" i="1" dirty="0">
                    <a:solidFill>
                      <a:schemeClr val="tx1"/>
                    </a:solidFill>
                  </a:rPr>
                  <a:t> </a:t>
                </a:r>
                <a:endParaRPr lang="ru-BY" dirty="0">
                  <a:solidFill>
                    <a:schemeClr val="tx1"/>
                  </a:solidFill>
                </a:endParaRPr>
              </a:p>
              <a:p>
                <a:r>
                  <a:rPr lang="ru-RU" dirty="0">
                    <a:solidFill>
                      <a:schemeClr val="tx1"/>
                    </a:solidFill>
                  </a:rPr>
                  <a:t>называется многочленом </a:t>
                </a:r>
                <a:r>
                  <a:rPr lang="en-US" dirty="0">
                    <a:solidFill>
                      <a:schemeClr val="tx1"/>
                    </a:solidFill>
                  </a:rPr>
                  <a:t>n</a:t>
                </a:r>
                <a:r>
                  <a:rPr lang="ru-RU" dirty="0">
                    <a:solidFill>
                      <a:schemeClr val="tx1"/>
                    </a:solidFill>
                  </a:rPr>
                  <a:t>-ого порядка по этой ортогональной системе. Здесь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B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ru-B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,...,</m:t>
                    </m:r>
                    <m:sSub>
                      <m:sSubPr>
                        <m:ctrlPr>
                          <a:rPr lang="ru-B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- числа. Предположим, что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– функция с интегрируемым квадратом на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B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.Величина</a:t>
                </a:r>
                <a:endParaRPr lang="ru-BY" dirty="0">
                  <a:solidFill>
                    <a:schemeClr val="tx1"/>
                  </a:solidFill>
                </a:endParaRPr>
              </a:p>
              <a:p>
                <a:r>
                  <a:rPr lang="ru-RU" dirty="0">
                    <a:solidFill>
                      <a:schemeClr val="tx1"/>
                    </a:solidFill>
                  </a:rPr>
                  <a:t> </a:t>
                </a:r>
                <a:endParaRPr lang="ru-BY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   </m:t>
                      </m:r>
                      <m:sSup>
                        <m:sSup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ru-B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sup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sup>
                        <m:e>
                          <m:sSup>
                            <m:sSupPr>
                              <m:ctrlPr>
                                <a:rPr lang="ru-B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ru-BY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ru-BY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BY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𝑑𝑥</m:t>
                          </m:r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nary>
                            <m:naryPr>
                              <m:limLoc m:val="undOvr"/>
                              <m:ctrlPr>
                                <a:rPr lang="ru-B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ru-BY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ru-BY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nary>
                                    <m:naryPr>
                                      <m:chr m:val="∑"/>
                                      <m:limLoc m:val="undOvr"/>
                                      <m:ctrlPr>
                                        <a:rPr lang="ru-BY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ru-RU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  <m:r>
                                        <a:rPr lang="ru-RU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=0</m:t>
                                      </m:r>
                                    </m:sub>
                                    <m:sup>
                                      <m:r>
                                        <a:rPr lang="ru-RU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ru-BY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e>
                                        <m:sub>
                                          <m:r>
                                            <a:rPr lang="ru-RU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ru-BY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𝜑</m:t>
                                          </m:r>
                                        </m:e>
                                        <m:sub>
                                          <m:r>
                                            <a:rPr lang="ru-RU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r>
                                        <a:rPr lang="ru-RU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ru-RU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ru-RU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nary>
                                  <m: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  <m:sup>
                                  <m: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  <m:r>
                        <a:rPr lang="ru-RU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ru-RU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</m:t>
                      </m:r>
                    </m:oMath>
                  </m:oMathPara>
                </a14:m>
                <a:endParaRPr lang="ru-BY" dirty="0">
                  <a:solidFill>
                    <a:schemeClr val="tx1"/>
                  </a:solidFill>
                </a:endParaRPr>
              </a:p>
              <a:p>
                <a:r>
                  <a:rPr lang="ru-RU" i="1" dirty="0">
                    <a:solidFill>
                      <a:schemeClr val="tx1"/>
                    </a:solidFill>
                  </a:rPr>
                  <a:t> </a:t>
                </a:r>
                <a:endParaRPr lang="ru-BY" dirty="0">
                  <a:solidFill>
                    <a:schemeClr val="tx1"/>
                  </a:solidFill>
                </a:endParaRPr>
              </a:p>
              <a:p>
                <a:r>
                  <a:rPr lang="ru-RU" dirty="0">
                    <a:solidFill>
                      <a:schemeClr val="tx1"/>
                    </a:solidFill>
                  </a:rPr>
                  <a:t>Называется квадратичным уклонением многочлена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B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ru-B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от функции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на отрезке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B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dirty="0"/>
                  <a:t> </a:t>
                </a:r>
                <a:r>
                  <a:rPr lang="ru-RU" dirty="0">
                    <a:solidFill>
                      <a:schemeClr val="tx1"/>
                    </a:solidFill>
                  </a:rPr>
                  <a:t>Коэффициенты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B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при которых квадратичное уклонение минимально , называются коэффициентами наилучшего приближения многочлена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B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ru-B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к функции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.</a:t>
                </a:r>
                <a:endParaRPr lang="ru-BY" dirty="0">
                  <a:solidFill>
                    <a:schemeClr val="tx1"/>
                  </a:solidFill>
                </a:endParaRPr>
              </a:p>
              <a:p>
                <a:r>
                  <a:rPr lang="ru-RU" b="1" dirty="0">
                    <a:solidFill>
                      <a:schemeClr val="tx1"/>
                    </a:solidFill>
                  </a:rPr>
                  <a:t>Свойство</a:t>
                </a:r>
                <a:r>
                  <a:rPr lang="ru-RU" dirty="0">
                    <a:solidFill>
                      <a:schemeClr val="tx1"/>
                    </a:solidFill>
                  </a:rPr>
                  <a:t>. Коэффициентами наилучшего приближения функции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многочленом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B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ru-B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ru-B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ru-BY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ru-RU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sSub>
                          <m:sSubPr>
                            <m:ctrlPr>
                              <a:rPr lang="ru-BY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ru-RU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являются коэффициенты Фурье этой функции по ортогональной системе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B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BY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ru-RU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ru-BY" dirty="0">
                    <a:solidFill>
                      <a:schemeClr val="tx1"/>
                    </a:solidFill>
                    <a:effectLst/>
                  </a:rPr>
                  <a:t> </a:t>
                </a:r>
                <a:endParaRPr lang="ru-BY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Прямоугольник 1">
                <a:extLst>
                  <a:ext uri="{FF2B5EF4-FFF2-40B4-BE49-F238E27FC236}">
                    <a16:creationId xmlns:a16="http://schemas.microsoft.com/office/drawing/2014/main" id="{7A87306E-D6AC-F041-9354-2F0B42C25A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2369" y="348916"/>
                <a:ext cx="8169442" cy="5811252"/>
              </a:xfrm>
              <a:prstGeom prst="rect">
                <a:avLst/>
              </a:prstGeom>
              <a:blipFill>
                <a:blip r:embed="rId2"/>
                <a:stretch>
                  <a:fillRect l="-621" r="-621" b="-19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82081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3A05200A-8C93-3B43-89EE-9B908B0974C1}"/>
              </a:ext>
            </a:extLst>
          </p:cNvPr>
          <p:cNvSpPr/>
          <p:nvPr/>
        </p:nvSpPr>
        <p:spPr>
          <a:xfrm>
            <a:off x="962526" y="252663"/>
            <a:ext cx="8386011" cy="13355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ru-BY" sz="2400" dirty="0">
                <a:solidFill>
                  <a:schemeClr val="accent1">
                    <a:lumMod val="50000"/>
                  </a:schemeClr>
                </a:solidFill>
              </a:rPr>
              <a:t>Сходимость в среднеквадратичном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Прямоугольник 2">
                <a:extLst>
                  <a:ext uri="{FF2B5EF4-FFF2-40B4-BE49-F238E27FC236}">
                    <a16:creationId xmlns:a16="http://schemas.microsoft.com/office/drawing/2014/main" id="{9A54097C-6B81-9C4C-90BD-FF6A7436DDDD}"/>
                  </a:ext>
                </a:extLst>
              </p:cNvPr>
              <p:cNvSpPr/>
              <p:nvPr/>
            </p:nvSpPr>
            <p:spPr>
              <a:xfrm>
                <a:off x="0" y="1143001"/>
                <a:ext cx="6942221" cy="344103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ru-BY" dirty="0">
                  <a:solidFill>
                    <a:schemeClr val="tx1"/>
                  </a:solidFill>
                </a:endParaRPr>
              </a:p>
              <a:p>
                <a:r>
                  <a:rPr lang="ru-RU" dirty="0">
                    <a:solidFill>
                      <a:schemeClr val="tx1"/>
                    </a:solidFill>
                  </a:rPr>
                  <a:t> </a:t>
                </a:r>
                <a:endParaRPr lang="ru-BY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         </m:t>
                          </m:r>
                          <m:sSub>
                            <m:sSubPr>
                              <m:ctrlPr>
                                <a:rPr lang="ru-BY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ru-RU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ru-B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+...+</m:t>
                      </m:r>
                      <m:sSub>
                        <m:sSub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  <m:sub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ru-RU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ru-B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B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ru-B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ru-RU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</m:e>
                      </m:nary>
                    </m:oMath>
                  </m:oMathPara>
                </a14:m>
                <a:endParaRPr lang="ru-BY" dirty="0">
                  <a:solidFill>
                    <a:schemeClr val="tx1"/>
                  </a:solidFill>
                </a:endParaRPr>
              </a:p>
              <a:p>
                <a:r>
                  <a:rPr lang="ru-RU" dirty="0">
                    <a:solidFill>
                      <a:schemeClr val="tx1"/>
                    </a:solidFill>
                  </a:rPr>
                  <a:t> </a:t>
                </a:r>
                <a:endParaRPr lang="ru-BY" dirty="0">
                  <a:solidFill>
                    <a:schemeClr val="tx1"/>
                  </a:solidFill>
                </a:endParaRPr>
              </a:p>
              <a:p>
                <a:r>
                  <a:rPr lang="en-US" dirty="0">
                    <a:solidFill>
                      <a:schemeClr val="tx1"/>
                    </a:solidFill>
                  </a:rPr>
                  <a:t>n</a:t>
                </a:r>
                <a:r>
                  <a:rPr lang="ru-RU" dirty="0">
                    <a:solidFill>
                      <a:schemeClr val="tx1"/>
                    </a:solidFill>
                  </a:rPr>
                  <a:t>-я частичная сумма ряда Фурье функции </a:t>
                </a:r>
                <a14:m>
                  <m:oMath xmlns:m="http://schemas.openxmlformats.org/officeDocument/2006/math"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ru-RU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по ортогональной на отрезке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B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 системе функций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ru-B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ru-BY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ru-RU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ru-RU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.</a:t>
                </a:r>
                <a:endParaRPr lang="en-US" dirty="0">
                  <a:solidFill>
                    <a:schemeClr val="tx1"/>
                  </a:solidFill>
                </a:endParaRPr>
              </a:p>
              <a:p>
                <a:r>
                  <a:rPr lang="ru-RU" dirty="0">
                    <a:solidFill>
                      <a:schemeClr val="tx1"/>
                    </a:solidFill>
                  </a:rPr>
                  <a:t>Ряд Фурье функции называется сходящимся к этой функции в среднем квадратичном на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ru-BY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ru-RU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ru-RU" dirty="0">
                    <a:solidFill>
                      <a:schemeClr val="tx1"/>
                    </a:solidFill>
                  </a:rPr>
                  <a:t>, если </a:t>
                </a:r>
                <a:endParaRPr lang="ru-BY" dirty="0">
                  <a:solidFill>
                    <a:schemeClr val="tx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ru-RU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                 </m:t>
                      </m:r>
                      <m:func>
                        <m:funcPr>
                          <m:ctrlPr>
                            <a:rPr lang="ru-BY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ru-B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ru-RU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nary>
                            <m:naryPr>
                              <m:limLoc m:val="undOvr"/>
                              <m:ctrlPr>
                                <a:rPr lang="ru-BY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  <m:sup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ru-BY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  <m:d>
                                    <m:dPr>
                                      <m:ctrlPr>
                                        <a:rPr lang="ru-BY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</m:d>
                                  <m: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ru-BY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)]</m:t>
                                  </m:r>
                                </m:e>
                                <m:sup>
                                  <m:r>
                                    <a:rPr lang="ru-RU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ru-RU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=0.  </m:t>
                              </m:r>
                            </m:e>
                          </m:nary>
                        </m:e>
                      </m:func>
                    </m:oMath>
                  </m:oMathPara>
                </a14:m>
                <a:endParaRPr lang="ru-BY" dirty="0"/>
              </a:p>
            </p:txBody>
          </p:sp>
        </mc:Choice>
        <mc:Fallback>
          <p:sp>
            <p:nvSpPr>
              <p:cNvPr id="3" name="Прямоугольник 2">
                <a:extLst>
                  <a:ext uri="{FF2B5EF4-FFF2-40B4-BE49-F238E27FC236}">
                    <a16:creationId xmlns:a16="http://schemas.microsoft.com/office/drawing/2014/main" id="{9A54097C-6B81-9C4C-90BD-FF6A7436DD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143001"/>
                <a:ext cx="6942221" cy="3441032"/>
              </a:xfrm>
              <a:prstGeom prst="rect">
                <a:avLst/>
              </a:prstGeom>
              <a:blipFill>
                <a:blip r:embed="rId2"/>
                <a:stretch>
                  <a:fillRect l="-731" t="-12546" b="-468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ru-BY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CD6539C-1012-8448-9EC1-35E69FAB06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9558" y="0"/>
            <a:ext cx="550244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537150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{6C765204-C5E9-BD45-8E5C-21D560E8A627}tf10001060</Template>
  <TotalTime>628</TotalTime>
  <Words>657</Words>
  <Application>Microsoft Macintosh PowerPoint</Application>
  <PresentationFormat>Широкоэкранный</PresentationFormat>
  <Paragraphs>69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Calibri Light</vt:lpstr>
      <vt:lpstr>Cambria Math</vt:lpstr>
      <vt:lpstr>Trebuchet MS</vt:lpstr>
      <vt:lpstr>Wingdings 3</vt:lpstr>
      <vt:lpstr>Аспект</vt:lpstr>
      <vt:lpstr>Презентация PowerPoint</vt:lpstr>
      <vt:lpstr>Содержание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Microsoft Office User</cp:lastModifiedBy>
  <cp:revision>2</cp:revision>
  <dcterms:created xsi:type="dcterms:W3CDTF">2021-12-27T15:31:54Z</dcterms:created>
  <dcterms:modified xsi:type="dcterms:W3CDTF">2021-12-28T19:55:20Z</dcterms:modified>
</cp:coreProperties>
</file>